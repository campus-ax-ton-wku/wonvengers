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onvengers.vercel.ap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nvengers.vercel.app" TargetMode="External"/><Relationship Id="rId3" Type="http://schemas.openxmlformats.org/officeDocument/2006/relationships/hyperlink" Target="https://github.com/Campus-AX-Ton-wku/Wonveng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2F4156"/>
                </a:solidFill>
                <a:latin typeface="Malgun Gothic"/>
              </a:rPr>
              <a:t>지원금은 이미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26A83"/>
                </a:solidFill>
                <a:latin typeface="Malgun Gothic"/>
              </a:rPr>
              <a:t>못 받는 이유는 돈이 없어서가 아닙니다.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2567863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국토교통부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70048"/>
            <a:ext cx="22021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청년월세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63240"/>
            <a:ext cx="22021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A85434"/>
                </a:solidFill>
                <a:latin typeface="Malgun Gothic"/>
              </a:rPr>
              <a:t>최대 480만원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7399" y="2103120"/>
            <a:ext cx="2567863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10279" y="2286000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전북특별자치도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0279" y="2670048"/>
            <a:ext cx="22021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전북청년 지역정착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0279" y="3063240"/>
            <a:ext cx="22021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A85434"/>
                </a:solidFill>
                <a:latin typeface="Malgun Gothic"/>
              </a:rPr>
              <a:t>최대 360만원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0" y="2103120"/>
            <a:ext cx="2567863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79310" y="2286000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익산시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0" y="2670048"/>
            <a:ext cx="22021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익산형 청년월세 · 이사비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9310" y="3063240"/>
            <a:ext cx="22021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A85434"/>
                </a:solidFill>
                <a:latin typeface="Malgun Gothic"/>
              </a:rPr>
              <a:t>최대 240만 / 50만원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5461" y="2103120"/>
            <a:ext cx="2567863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8341" y="2286000"/>
            <a:ext cx="2202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국토부 · 복지부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8341" y="2670048"/>
            <a:ext cx="22021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청년 주거급여 분리지급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8341" y="3063240"/>
            <a:ext cx="220210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A85434"/>
                </a:solidFill>
                <a:latin typeface="Malgun Gothic"/>
              </a:rPr>
              <a:t>월 최대 21만 2천원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06240"/>
            <a:ext cx="10874959" cy="1691640"/>
          </a:xfrm>
          <a:prstGeom prst="roundRect">
            <a:avLst>
              <a:gd name="adj" fmla="val 4000"/>
            </a:avLst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" y="4480560"/>
            <a:ext cx="102348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F4156"/>
                </a:solidFill>
                <a:latin typeface="Malgun Gothic"/>
              </a:rPr>
              <a:t>네 곳이 따로 공고를 냅니다. 청년은 각각을 찾아내고, 나이·지역·소득·학적이 정책마다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F4156"/>
                </a:solidFill>
                <a:latin typeface="Malgun Gothic"/>
              </a:rPr>
              <a:t>다르게 얽힌 조건을 자기에게 맞춰본 다음, 받아도 실제로 얼마가 남는지 또 계산해야 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5358384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A85434"/>
                </a:solidFill>
                <a:latin typeface="Malgun Gothic"/>
              </a:rPr>
              <a:t>→ 정작 대상인 청년이 자기가 받을 수 있는지 모릅니다.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2F4156"/>
                </a:solidFill>
                <a:latin typeface="Malgun Gothic"/>
              </a:rPr>
              <a:t>두 단계로 쪼갰습니다.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26A83"/>
                </a:solidFill>
                <a:latin typeface="Malgun Gothic"/>
              </a:rPr>
              <a:t>찾는 일과 계산하는 일을 섞지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6335" y="2148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EFF4F8"/>
          </a:solidFill>
          <a:ln w="12700">
            <a:solidFill>
              <a:srgbClr val="56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6335" y="23774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C4552"/>
                </a:solidFill>
                <a:latin typeface="Malgun Gothic"/>
              </a:rPr>
              <a:t>질문 4개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6335" y="27980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나이 · 지역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상태 · 소득 구간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8055" y="267004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67C8D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2103" y="2148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6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72103" y="23774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C4552"/>
                </a:solidFill>
                <a:latin typeface="Malgun Gothic"/>
              </a:rPr>
              <a:t>1층 · 발견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2103" y="27980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해당될 수 있는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지원금 목록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3823" y="267004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67C8D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7871" y="2148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EFF4F8"/>
          </a:solidFill>
          <a:ln w="12700">
            <a:solidFill>
              <a:srgbClr val="56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87871" y="23774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C4552"/>
                </a:solidFill>
                <a:latin typeface="Malgun Gothic"/>
              </a:rPr>
              <a:t>계약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27980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보증금 · 월세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관리비 · 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9591" y="267004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67C8D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3639" y="21488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6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03639" y="23774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2C4552"/>
                </a:solidFill>
                <a:latin typeface="Malgun Gothic"/>
              </a:rPr>
              <a:t>2층 · 계산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3639" y="27980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자격 판정 +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26A83"/>
                </a:solidFill>
                <a:latin typeface="Malgun Gothic"/>
              </a:rPr>
              <a:t>실부담 주거비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97680"/>
            <a:ext cx="10874959" cy="1572768"/>
          </a:xfrm>
          <a:prstGeom prst="roundRect">
            <a:avLst>
              <a:gd name="adj" fmla="val 4000"/>
            </a:avLst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8408" y="4553712"/>
            <a:ext cx="10234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F4156"/>
                </a:solidFill>
                <a:latin typeface="Malgun Gothic"/>
              </a:rPr>
              <a:t>1층만 완성되어도 제품으로 성립합니다.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992624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계약 조건을 아직 모르는 사람도 "내가 뭘 받을 수 있는지"는 알고 갈 수 있어야 합니다.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그래서 2층은 1층 위에 얹었고, 두 층은 따로 열립니다.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프로토타입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2F4156"/>
                </a:solidFill>
                <a:latin typeface="Malgun Gothic"/>
              </a:rPr>
              <a:t>질문 4개 · 1분.</a:t>
            </a:r>
          </a:p>
        </p:txBody>
      </p:sp>
      <p:pic>
        <p:nvPicPr>
          <p:cNvPr id="4" name="Picture 3" descr="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78" y="1508760"/>
            <a:ext cx="1529561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51698" y="4956048"/>
            <a:ext cx="18953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① 질문 4개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1698" y="5303520"/>
            <a:ext cx="189532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답을 바꿀 때마다 건수가 바로 바뀐다</a:t>
            </a:r>
          </a:p>
        </p:txBody>
      </p:sp>
      <p:pic>
        <p:nvPicPr>
          <p:cNvPr id="7" name="Picture 6" descr="polic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067" y="1508760"/>
            <a:ext cx="1529561" cy="3310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48187" y="4956048"/>
            <a:ext cx="18953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② 받을 수 있는 것만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187" y="5303520"/>
            <a:ext cx="189532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태그와 이유, 그리고 공고 원문 링크</a:t>
            </a:r>
          </a:p>
        </p:txBody>
      </p:sp>
      <p:pic>
        <p:nvPicPr>
          <p:cNvPr id="10" name="Picture 9" descr="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556" y="1508760"/>
            <a:ext cx="1529561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44676" y="4956048"/>
            <a:ext cx="18953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C4552"/>
                </a:solidFill>
                <a:latin typeface="Malgun Gothic"/>
              </a:rPr>
              <a:t>③ 실제로 낼 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4676" y="5303520"/>
            <a:ext cx="189532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최대 지원 가능액과 최종 예상 주거비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u="sng">
                <a:solidFill>
                  <a:srgbClr val="567C8D"/>
                </a:solidFill>
                <a:latin typeface="Malgun Gothic"/>
                <a:hlinkClick r:id="rId5"/>
              </a:rPr>
              <a:t>wonvengers.vercel.app</a:t>
            </a:r>
            <a:r>
              <a:rPr sz="1300" b="0">
                <a:solidFill>
                  <a:srgbClr val="526A83"/>
                </a:solidFill>
                <a:latin typeface="Malgun Gothic"/>
              </a:rPr>
              <a:t>  — 계정 없이 열립니다. 모바일 화면 기준으로 만들었습니다.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AI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2F4156"/>
                </a:solidFill>
                <a:latin typeface="Malgun Gothic"/>
              </a:rPr>
              <a:t>판정을 AI에 맡기지 않았습니다.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254599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810512"/>
            <a:ext cx="46693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A85434"/>
                </a:solidFill>
                <a:latin typeface="Malgun Gothic"/>
              </a:rPr>
              <a:t>왜 안 썼나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286000"/>
            <a:ext cx="466938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같은 입력은 같은 결과를 내야 합니다 (PRD F3-2).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화면이 매번 모델 응답에 따라 달라지면 그 보장이 깨집니다.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공고의 소득 상한·월세 상한은 산문에 섞여 있습니다.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판정에 필요한 숫자를 기계가 정확히 뽑아낼 수 없습니다.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추측해서 채운 숫자는 사람이 돈 계산을 틀리게 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72768"/>
            <a:ext cx="5254599" cy="3200400"/>
          </a:xfrm>
          <a:prstGeom prst="roundRect">
            <a:avLst>
              <a:gd name="adj" fmla="val 4000"/>
            </a:avLst>
          </a:prstGeom>
          <a:solidFill>
            <a:srgbClr val="EFF4F8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71335" y="1810512"/>
            <a:ext cx="46693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C4552"/>
                </a:solidFill>
                <a:latin typeface="Malgun Gothic"/>
              </a:rPr>
              <a:t>대신 무엇을 했나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286000"/>
            <a:ext cx="466938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공고 원문을 사람이 검수해 규칙 데이터로 옮깁니다.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정책 5건 전부 출처 URL과 검수 날짜를 화면에 밝힙니다.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판정할 수 없는 값은 통과시키지 않고 '확인 필요' 로 남깁니다.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검수 전 정책은 화면이 그렇게 말합니다.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AI 는 개발과 데이터 정규화에 썼습니다 — 판정이 아니라.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83480"/>
            <a:ext cx="10874959" cy="960120"/>
          </a:xfrm>
          <a:prstGeom prst="roundRect">
            <a:avLst>
              <a:gd name="adj" fmla="val 4000"/>
            </a:avLst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A85434"/>
                </a:solidFill>
                <a:latin typeface="Malgun Gothic"/>
              </a:rPr>
              <a:t>“틀린 확신보다 정직한 모름이 낫다”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2F4156"/>
                </a:solidFill>
                <a:latin typeface="Malgun Gothic"/>
              </a:rPr>
              <a:t>숫자를 믿어도 되는지부터 확인했습니다.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256786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A85434"/>
                </a:solidFill>
                <a:latin typeface="Malgun Gothic"/>
              </a:rPr>
              <a:t>5건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33172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26A83"/>
                </a:solidFill>
                <a:latin typeface="Malgun Gothic"/>
              </a:rPr>
              <a:t>정책 전부 공고 원문 대조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7399" y="1572768"/>
            <a:ext cx="256786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7399" y="1755648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A85434"/>
                </a:solidFill>
                <a:latin typeface="Malgun Gothic"/>
              </a:rPr>
              <a:t>263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4559" y="233172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26A83"/>
                </a:solidFill>
                <a:latin typeface="Malgun Gothic"/>
              </a:rPr>
              <a:t>테스트 통과 (로직 + 화면)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0" y="1572768"/>
            <a:ext cx="256786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96430" y="1755648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A85434"/>
                </a:solidFill>
                <a:latin typeface="Malgun Gothic"/>
              </a:rPr>
              <a:t>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3590" y="233172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26A83"/>
                </a:solidFill>
                <a:latin typeface="Malgun Gothic"/>
              </a:rPr>
              <a:t>PR · 커밋 119개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5461" y="1572768"/>
            <a:ext cx="256786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5461" y="1755648"/>
            <a:ext cx="25678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A85434"/>
                </a:solidFill>
                <a:latin typeface="Malgun Gothic"/>
              </a:rPr>
              <a:t>4주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2621" y="2331720"/>
            <a:ext cx="22935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26A83"/>
                </a:solidFill>
                <a:latin typeface="Malgun Gothic"/>
              </a:rPr>
              <a:t>배포까지 (계정 없이 열림)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17520"/>
            <a:ext cx="10874959" cy="2606040"/>
          </a:xfrm>
          <a:prstGeom prst="roundRect">
            <a:avLst>
              <a:gd name="adj" fmla="val 4000"/>
            </a:avLst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8408" y="3246120"/>
            <a:ext cx="10234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대조하지 않았으면 못 잡았을 오류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611880"/>
            <a:ext cx="102348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F4156"/>
                </a:solidFill>
                <a:latin typeface="Malgun Gothic"/>
              </a:rPr>
              <a:t>기준 중위소득 표가 2027년 값이었습니다.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160520"/>
            <a:ext cx="102348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income-thresholds.json 은 2026년 사업용인데 숫자는 2027년 기준(6.7% 인상분)이 들어 있었습니다.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모든 소득 상한이 6.7% 씩 높게 계산되고 있었습니다 — 자격이 없는 사람을 통과시키는 방향의 오차입니다.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보건복지부 보도자료 원문으로 1~6인 가구 값을 확인해 2026년 값으로 교체했습니다.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7인 가구는 보도자료에 없어 고시 인용값을 쓰고 "재확인 필요"로 기록에 남겼습니다.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A85434"/>
                </a:solidFill>
                <a:latin typeface="Malgun Gothic"/>
              </a:rPr>
              <a:t>남은 것과 다음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2F4156"/>
                </a:solidFill>
                <a:latin typeface="Malgun Gothic"/>
              </a:rPr>
              <a:t>아직 못 한 것을 먼저 말합니다.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254599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5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0976" y="1792224"/>
            <a:ext cx="46693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A85434"/>
                </a:solidFill>
                <a:latin typeface="Malgun Gothic"/>
              </a:rPr>
              <a:t>남은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212848"/>
            <a:ext cx="46693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정책 5건 중 익산형 청년월세 1건이 팀 교차검수 전입니다.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숨기지 않습니다 — 그 카드는 화면에서 "아직 공고 원문과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대조하지 않았습니다. 신청 전에 원문을 직접 확인하세요"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라고 스스로 말합니다.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72768"/>
            <a:ext cx="5254599" cy="2286000"/>
          </a:xfrm>
          <a:prstGeom prst="roundRect">
            <a:avLst>
              <a:gd name="adj" fmla="val 4000"/>
            </a:avLst>
          </a:prstGeom>
          <a:solidFill>
            <a:srgbClr val="EFF4F8"/>
          </a:solidFill>
          <a:ln w="12700">
            <a:solidFill>
              <a:srgbClr val="E8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71335" y="1792224"/>
            <a:ext cx="46693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C4552"/>
                </a:solidFill>
                <a:latin typeface="Malgun Gothic"/>
              </a:rPr>
              <a:t>다음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212848"/>
            <a:ext cx="46693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정책 5개 → 8~12개 (PRD 목표).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온통청년 API 로 익산 주거 정책 27건을 훑어 24건을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후보로 뽑아 뒀습니다. 다만 지역 필터가 새서 다른 시·도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26A83"/>
                </a:solidFill>
                <a:latin typeface="Malgun Gothic"/>
              </a:rPr>
              <a:t>사업이 섞입니다 — 공고 원문을 열어 확인한 것만 넣습니다.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69080"/>
            <a:ext cx="10874959" cy="1600200"/>
          </a:xfrm>
          <a:prstGeom prst="roundRect">
            <a:avLst>
              <a:gd name="adj" fmla="val 4000"/>
            </a:avLst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1">
                <a:solidFill>
                  <a:srgbClr val="2F4156"/>
                </a:solidFill>
                <a:latin typeface="Malgun Gothic"/>
              </a:rPr>
              <a:t>Perky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86460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526A83"/>
                </a:solidFill>
                <a:latin typeface="Malgun Gothic"/>
              </a:rPr>
              <a:t>팀 Wonvengers  ·  원광대학교  ·  멋쟁이사자처럼 Campus AX-Ton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3036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u="sng">
                <a:solidFill>
                  <a:srgbClr val="567C8D"/>
                </a:solidFill>
                <a:latin typeface="Malgun Gothic"/>
                <a:hlinkClick r:id="rId2"/>
              </a:rPr>
              <a:t>wonvengers.vercel.app</a:t>
            </a:r>
            <a:r>
              <a:rPr sz="1300" b="0">
                <a:solidFill>
                  <a:srgbClr val="2F4156"/>
                </a:solidFill>
                <a:latin typeface="Malgun Gothic"/>
              </a:rPr>
              <a:t>      </a:t>
            </a:r>
            <a:r>
              <a:rPr sz="1300" b="0" u="sng">
                <a:solidFill>
                  <a:srgbClr val="567C8D"/>
                </a:solidFill>
                <a:latin typeface="Malgun Gothic"/>
                <a:hlinkClick r:id="rId3"/>
              </a:rPr>
              <a:t>github.com/Campus-AX-Ton-wku/Wonvengers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18927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5B6F86"/>
                </a:solidFill>
                <a:latin typeface="Malgun Gothic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